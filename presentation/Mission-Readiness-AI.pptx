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embeddedFontLst>
    <p:embeddedFont>
      <p:font typeface="Merriweather Bold" panose="020B0604020202020204" charset="0"/>
      <p:regular r:id="rId11"/>
    </p:embeddedFont>
    <p:embeddedFont>
      <p:font typeface="Merriweather Light" panose="00000400000000000000" pitchFamily="2" charset="0"/>
      <p:regular r:id="rId12"/>
    </p:embeddedFont>
    <p:embeddedFont>
      <p:font typeface="Open Sans" panose="020B0606030504020204" pitchFamily="34" charset="0"/>
      <p:regular r:id="rId13"/>
      <p:bold r:id="rId14"/>
      <p:italic r:id="rId15"/>
    </p:embeddedFont>
    <p:embeddedFont>
      <p:font typeface="Open Sans Bold" panose="020B0806030504020204" charset="0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6485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7" Type="http://schemas.openxmlformats.org/officeDocument/2006/relationships/image" Target="../media/image18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233360" y="2401788"/>
            <a:ext cx="3082054" cy="287139"/>
          </a:xfrm>
          <a:prstGeom prst="roundRect">
            <a:avLst>
              <a:gd name="adj" fmla="val 22118"/>
            </a:avLst>
          </a:prstGeom>
          <a:solidFill>
            <a:srgbClr val="FFD8CC"/>
          </a:solidFill>
          <a:ln/>
        </p:spPr>
      </p:sp>
      <p:sp>
        <p:nvSpPr>
          <p:cNvPr id="4" name="Text 1"/>
          <p:cNvSpPr/>
          <p:nvPr/>
        </p:nvSpPr>
        <p:spPr>
          <a:xfrm>
            <a:off x="5346765" y="2458442"/>
            <a:ext cx="3464831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AI-POWERED PREDICTIVE MAINTENANCE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5233360" y="2764532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Mission Readiness AI</a:t>
            </a:r>
            <a:endParaRPr lang="en-US" sz="3700" dirty="0"/>
          </a:p>
        </p:txBody>
      </p:sp>
      <p:sp>
        <p:nvSpPr>
          <p:cNvPr id="6" name="Text 3"/>
          <p:cNvSpPr/>
          <p:nvPr/>
        </p:nvSpPr>
        <p:spPr>
          <a:xfrm>
            <a:off x="5233360" y="3638649"/>
            <a:ext cx="6296860" cy="817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Predictive Maintenance Copilot for Mission-Critical Assets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i="1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From raw telemetry to predictive, explainable maintenance decisions.</a:t>
            </a:r>
            <a:endParaRPr lang="en-US" sz="145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F289C54-26B1-7C58-B980-D087E2E6804A}"/>
              </a:ext>
            </a:extLst>
          </p:cNvPr>
          <p:cNvSpPr/>
          <p:nvPr/>
        </p:nvSpPr>
        <p:spPr>
          <a:xfrm>
            <a:off x="9609221" y="5550569"/>
            <a:ext cx="2582779" cy="130743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1475" y="619720"/>
            <a:ext cx="1106559" cy="255786"/>
          </a:xfrm>
          <a:prstGeom prst="roundRect">
            <a:avLst>
              <a:gd name="adj" fmla="val 22114"/>
            </a:avLst>
          </a:prstGeom>
          <a:noFill/>
          <a:ln w="6350">
            <a:solidFill>
              <a:srgbClr val="FFAD9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477" y="670223"/>
            <a:ext cx="1514139" cy="1547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50" dirty="0">
                <a:solidFill>
                  <a:srgbClr val="FFAD9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PROBLEM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661475" y="935434"/>
            <a:ext cx="6296860" cy="526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Failures Are Detected Too Late</a:t>
            </a:r>
            <a:endParaRPr lang="en-US" sz="3300" dirty="0"/>
          </a:p>
        </p:txBody>
      </p:sp>
      <p:sp>
        <p:nvSpPr>
          <p:cNvPr id="6" name="Text 3"/>
          <p:cNvSpPr/>
          <p:nvPr/>
        </p:nvSpPr>
        <p:spPr>
          <a:xfrm>
            <a:off x="661475" y="1686322"/>
            <a:ext cx="6296860" cy="7637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Mission-critical fleets generate vast telemetry — yet maintenance still relies on fixed schedules, periodic inspections, and reactive fault detection. More telemetry doesn't mean better decisions.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61475" y="2618780"/>
            <a:ext cx="3073422" cy="1465957"/>
          </a:xfrm>
          <a:prstGeom prst="roundRect">
            <a:avLst>
              <a:gd name="adj" fmla="val 4823"/>
            </a:avLst>
          </a:prstGeom>
          <a:solidFill>
            <a:srgbClr val="FFD8CC"/>
          </a:solidFill>
          <a:ln w="6350">
            <a:solidFill>
              <a:srgbClr val="E5BEB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36095" y="2793405"/>
            <a:ext cx="2724181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Fleet Availability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836095" y="3146326"/>
            <a:ext cx="2724181" cy="50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Unexpected failures pull assets offline without warning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884813" y="2618780"/>
            <a:ext cx="3073522" cy="1465957"/>
          </a:xfrm>
          <a:prstGeom prst="roundRect">
            <a:avLst>
              <a:gd name="adj" fmla="val 4823"/>
            </a:avLst>
          </a:prstGeom>
          <a:solidFill>
            <a:srgbClr val="FFD8CC"/>
          </a:solidFill>
          <a:ln w="6350">
            <a:solidFill>
              <a:srgbClr val="E5BEB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059434" y="2793405"/>
            <a:ext cx="2724280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Engineering Workload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4059434" y="3146326"/>
            <a:ext cx="2724280" cy="7637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Unplanned maintenance spikes team burden and disrupts schedules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61475" y="4234656"/>
            <a:ext cx="6296860" cy="956766"/>
          </a:xfrm>
          <a:prstGeom prst="roundRect">
            <a:avLst>
              <a:gd name="adj" fmla="val 7390"/>
            </a:avLst>
          </a:prstGeom>
          <a:solidFill>
            <a:srgbClr val="FFD8CC"/>
          </a:solidFill>
          <a:ln w="6350">
            <a:solidFill>
              <a:srgbClr val="E5BEB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36095" y="4409281"/>
            <a:ext cx="5947618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Fleet Readiness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836095" y="4762202"/>
            <a:ext cx="5947618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Reduced confidence in which assets are truly mission-ready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61475" y="5360095"/>
            <a:ext cx="6296860" cy="878185"/>
          </a:xfrm>
          <a:prstGeom prst="roundRect">
            <a:avLst>
              <a:gd name="adj" fmla="val 8051"/>
            </a:avLst>
          </a:prstGeom>
          <a:solidFill>
            <a:srgbClr val="FFD8CC"/>
          </a:solidFill>
          <a:ln/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746" y="5576292"/>
            <a:ext cx="210338" cy="168275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208355" y="5552083"/>
            <a:ext cx="5581709" cy="50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The real question:</a:t>
            </a: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Which asset is degrading, how much life remains, and what needs attention first?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43620"/>
            <a:ext cx="812284" cy="175022"/>
          </a:xfrm>
          <a:prstGeom prst="roundRect">
            <a:avLst>
              <a:gd name="adj" fmla="val 22112"/>
            </a:avLst>
          </a:prstGeom>
          <a:noFill/>
          <a:ln w="6350">
            <a:solidFill>
              <a:srgbClr val="FFAD9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0529" y="578148"/>
            <a:ext cx="1283759" cy="105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00" dirty="0">
                <a:solidFill>
                  <a:srgbClr val="FFAD9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OUR SOLUTION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61475" y="746621"/>
            <a:ext cx="10868745" cy="359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Mission Readiness AI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661475" y="1211759"/>
            <a:ext cx="11478330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layered predictive-maintenance decision-support system that converts raw equipment telemetry into actionable maintenance intelligence.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221" y="1438870"/>
            <a:ext cx="10779153" cy="464829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31583" y="5205678"/>
            <a:ext cx="2445408" cy="30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Readiness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431583" y="4129672"/>
            <a:ext cx="2445408" cy="30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RUL &amp; Anomaly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431583" y="3064534"/>
            <a:ext cx="2445408" cy="305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Feature Eng.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1431583" y="1988528"/>
            <a:ext cx="2445408" cy="305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Telemetry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661475" y="6166048"/>
            <a:ext cx="11478330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Different models answer different questions — RUL prediction estimates remaining life, anomaly detection flags unusual behavior, and the AI Copilot explains the why behind every recommendation.</a:t>
            </a:r>
            <a:endParaRPr lang="en-US" sz="9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67FC7FD-748A-5004-9683-C55692DCF902}"/>
              </a:ext>
            </a:extLst>
          </p:cNvPr>
          <p:cNvSpPr/>
          <p:nvPr/>
        </p:nvSpPr>
        <p:spPr>
          <a:xfrm>
            <a:off x="9609221" y="6456947"/>
            <a:ext cx="2582779" cy="40105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19807"/>
            <a:ext cx="648279" cy="143470"/>
          </a:xfrm>
          <a:prstGeom prst="roundRect">
            <a:avLst>
              <a:gd name="adj" fmla="val 22134"/>
            </a:avLst>
          </a:prstGeom>
          <a:noFill/>
          <a:ln w="6350">
            <a:solidFill>
              <a:srgbClr val="FFAD9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8127" y="548084"/>
            <a:ext cx="1144559" cy="86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550" dirty="0">
                <a:solidFill>
                  <a:srgbClr val="FFAD9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ARCHITECTURE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661475" y="682129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System Architecture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661475" y="3323431"/>
            <a:ext cx="531908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Feature Engineering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61475" y="3518297"/>
            <a:ext cx="5928668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Recent operating behavior is captured using: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661475" y="3674170"/>
            <a:ext cx="5319083" cy="3731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10-cycle rolling mean</a:t>
            </a:r>
            <a:endParaRPr lang="en-US" sz="7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10-cycle rolling standard deviation</a:t>
            </a:r>
            <a:endParaRPr lang="en-US" sz="7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Recent sensor trend / slope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661475" y="4089797"/>
            <a:ext cx="5928668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This converts </a:t>
            </a:r>
            <a:r>
              <a:rPr lang="en-US" sz="700" b="1" dirty="0">
                <a:solidFill>
                  <a:srgbClr val="403C4E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"What are the sensor values?"</a:t>
            </a:r>
            <a:r>
              <a:rPr lang="en-US" sz="7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into </a:t>
            </a:r>
            <a:r>
              <a:rPr lang="en-US" sz="700" b="1" dirty="0">
                <a:solidFill>
                  <a:srgbClr val="403C4E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"What is the asset's recent condition, variability, and trajectory?"</a:t>
            </a:r>
            <a:endParaRPr lang="en-US" sz="7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487" y="1101328"/>
            <a:ext cx="5319083" cy="5319216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656D2FE2-CFCF-FFE6-60E3-FBAC6597C801}"/>
              </a:ext>
            </a:extLst>
          </p:cNvPr>
          <p:cNvSpPr/>
          <p:nvPr/>
        </p:nvSpPr>
        <p:spPr>
          <a:xfrm>
            <a:off x="9609221" y="6248400"/>
            <a:ext cx="2582779" cy="6096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75270"/>
            <a:ext cx="505606" cy="215305"/>
          </a:xfrm>
          <a:prstGeom prst="roundRect">
            <a:avLst>
              <a:gd name="adj" fmla="val 22123"/>
            </a:avLst>
          </a:prstGeom>
          <a:noFill/>
          <a:ln w="6350">
            <a:solidFill>
              <a:srgbClr val="FFAD9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6503" y="617736"/>
            <a:ext cx="945134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FFAD9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DEMO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61475" y="833041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Fleet-to-Asset Decision Support</a:t>
            </a:r>
            <a:endParaRPr lang="en-US" sz="2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891705"/>
            <a:ext cx="6943551" cy="393471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57244" y="1541760"/>
            <a:ext cx="357922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Fleet View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957244" y="1869480"/>
            <a:ext cx="3579227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Instantly identify </a:t>
            </a:r>
            <a:r>
              <a:rPr lang="en-US" sz="1100" b="1" dirty="0">
                <a:solidFill>
                  <a:srgbClr val="FFAD94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READY</a:t>
            </a:r>
            <a:r>
              <a:rPr lang="en-US" sz="11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</a:t>
            </a:r>
            <a:r>
              <a:rPr lang="en-US" sz="1100" b="1" dirty="0">
                <a:solidFill>
                  <a:srgbClr val="403C4E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CAUTION</a:t>
            </a:r>
            <a:r>
              <a:rPr lang="en-US" sz="11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and </a:t>
            </a:r>
            <a:r>
              <a:rPr lang="en-US" sz="1100" b="1" dirty="0">
                <a:solidFill>
                  <a:srgbClr val="403C4E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CRITICAL</a:t>
            </a:r>
            <a:r>
              <a:rPr lang="en-US" sz="11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assets with maintenance-priority ranking across the entire fleet.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957244" y="2571055"/>
            <a:ext cx="357922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Asset 40 — Example</a:t>
            </a:r>
            <a:endParaRPr lang="en-US" sz="13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957244" y="2912070"/>
          <a:ext cx="3579226" cy="2062906"/>
        </p:xfrm>
        <a:graphic>
          <a:graphicData uri="http://schemas.openxmlformats.org/drawingml/2006/table">
            <a:tbl>
              <a:tblPr/>
              <a:tblGrid>
                <a:gridCol w="17896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96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17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403C4E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Predicted RUL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E5BE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BE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BE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03C4E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1.38 cycles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BE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BE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BE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48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403C4E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RUL Score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E5BE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BE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BE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03C4E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0.92 / 100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BE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BE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BE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48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403C4E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Anomaly Severity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E5BE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BE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BE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03C4E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80.17 / 100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BE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BE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BE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48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403C4E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Mission Readiness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E5BE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BE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BE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03C4E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8.48 / 100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BE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BE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BE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48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403C4E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Maintenance Priority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E5BE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BE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BE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03C4E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91.90 / 100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BE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BE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BE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17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403C4E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Status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E5BE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BE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BE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AD94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CRITICAL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BE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BE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BE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7957244" y="5107285"/>
            <a:ext cx="3579227" cy="1055886"/>
          </a:xfrm>
          <a:prstGeom prst="roundRect">
            <a:avLst>
              <a:gd name="adj" fmla="val 5639"/>
            </a:avLst>
          </a:prstGeom>
          <a:solidFill>
            <a:srgbClr val="FFD8CC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8925" y="5277346"/>
            <a:ext cx="177200" cy="14168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417806" y="5238353"/>
            <a:ext cx="2976984" cy="793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Recommendation:</a:t>
            </a: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Prioritize maintenance inspection and engineering review. AI Copilot explains why using computed ML results and telemetry evidence.</a:t>
            </a:r>
            <a:endParaRPr lang="en-US" sz="11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3432C5D-40C7-FA71-1A59-B0E86F2B0B49}"/>
              </a:ext>
            </a:extLst>
          </p:cNvPr>
          <p:cNvSpPr/>
          <p:nvPr/>
        </p:nvSpPr>
        <p:spPr>
          <a:xfrm>
            <a:off x="9609221" y="6294239"/>
            <a:ext cx="2582779" cy="56376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19807"/>
            <a:ext cx="768331" cy="143470"/>
          </a:xfrm>
          <a:prstGeom prst="roundRect">
            <a:avLst>
              <a:gd name="adj" fmla="val 22134"/>
            </a:avLst>
          </a:prstGeom>
          <a:noFill/>
          <a:ln w="6350">
            <a:solidFill>
              <a:srgbClr val="FFAD9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8127" y="548084"/>
            <a:ext cx="1264611" cy="86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550" dirty="0">
                <a:solidFill>
                  <a:srgbClr val="FFAD9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IBM TECHNOLOGY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661475" y="682129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IBM Technology Integration</a:t>
            </a:r>
            <a:endParaRPr lang="en-US" sz="1850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728BBC6-34E6-5B77-81F2-603B4F82A47D}"/>
              </a:ext>
            </a:extLst>
          </p:cNvPr>
          <p:cNvGrpSpPr/>
          <p:nvPr/>
        </p:nvGrpSpPr>
        <p:grpSpPr>
          <a:xfrm>
            <a:off x="527532" y="1277666"/>
            <a:ext cx="10875095" cy="3287500"/>
            <a:chOff x="661475" y="2221832"/>
            <a:chExt cx="10875095" cy="2895600"/>
          </a:xfrm>
        </p:grpSpPr>
        <p:sp>
          <p:nvSpPr>
            <p:cNvPr id="5" name="Text 3"/>
            <p:cNvSpPr/>
            <p:nvPr/>
          </p:nvSpPr>
          <p:spPr>
            <a:xfrm>
              <a:off x="661475" y="3552428"/>
              <a:ext cx="5319083" cy="14763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100" b="1" dirty="0">
                  <a:solidFill>
                    <a:srgbClr val="403C4E"/>
                  </a:solidFill>
                  <a:latin typeface="Merriweather Bold" pitchFamily="34" charset="0"/>
                  <a:ea typeface="Merriweather Bold" pitchFamily="34" charset="-122"/>
                  <a:cs typeface="Merriweather Bold" pitchFamily="34" charset="-120"/>
                </a:rPr>
                <a:t>How IBM Fits In</a:t>
              </a:r>
              <a:endParaRPr lang="en-US" sz="11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661475" y="3747294"/>
              <a:ext cx="5319083" cy="22681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1000" dirty="0">
                  <a:solidFill>
                    <a:srgbClr val="403C4E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IBM watsonx.ai serves as the AI/LLM explanation layer — converting structured ML outputs into human-readable maintenance guidance. The AI Copilot </a:t>
              </a:r>
              <a:r>
                <a:rPr lang="en-US" sz="1000" b="1" dirty="0">
                  <a:solidFill>
                    <a:srgbClr val="403C4E"/>
                  </a:solidFill>
                  <a:latin typeface="Open Sans Bold" pitchFamily="34" charset="0"/>
                  <a:ea typeface="Open Sans Bold" pitchFamily="34" charset="-122"/>
                  <a:cs typeface="Open Sans Bold" pitchFamily="34" charset="-120"/>
                </a:rPr>
                <a:t>explains</a:t>
              </a:r>
              <a:r>
                <a:rPr lang="en-US" sz="1000" dirty="0">
                  <a:solidFill>
                    <a:srgbClr val="403C4E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 the numbers; it does not calculate or override ML results.</a:t>
              </a:r>
              <a:endParaRPr lang="en-US" sz="1000" dirty="0"/>
            </a:p>
          </p:txBody>
        </p:sp>
        <p:pic>
          <p:nvPicPr>
            <p:cNvPr id="7" name="Image 0" descr="preencoded.png"/>
            <p:cNvPicPr>
              <a:picLocks noChangeAspect="1"/>
            </p:cNvPicPr>
            <p:nvPr/>
          </p:nvPicPr>
          <p:blipFill>
            <a:blip r:embed="rId3"/>
            <a:srcRect t="21065" b="24498"/>
            <a:stretch>
              <a:fillRect/>
            </a:stretch>
          </p:blipFill>
          <p:spPr>
            <a:xfrm>
              <a:off x="6217487" y="2221832"/>
              <a:ext cx="5319083" cy="2895600"/>
            </a:xfrm>
            <a:prstGeom prst="rect">
              <a:avLst/>
            </a:prstGeom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95FD16F-30C1-56EF-E5FD-E33349ADD69E}"/>
              </a:ext>
            </a:extLst>
          </p:cNvPr>
          <p:cNvGrpSpPr/>
          <p:nvPr/>
        </p:nvGrpSpPr>
        <p:grpSpPr>
          <a:xfrm>
            <a:off x="540348" y="4879293"/>
            <a:ext cx="10868745" cy="1106806"/>
            <a:chOff x="661475" y="6526709"/>
            <a:chExt cx="10868745" cy="503634"/>
          </a:xfrm>
        </p:grpSpPr>
        <p:pic>
          <p:nvPicPr>
            <p:cNvPr id="8" name="Image 1" descr="preencoded.png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61475" y="6526709"/>
              <a:ext cx="5410759" cy="503634"/>
            </a:xfrm>
            <a:prstGeom prst="rect">
              <a:avLst/>
            </a:prstGeom>
          </p:spPr>
        </p:pic>
        <p:sp>
          <p:nvSpPr>
            <p:cNvPr id="9" name="Text 5"/>
            <p:cNvSpPr/>
            <p:nvPr/>
          </p:nvSpPr>
          <p:spPr>
            <a:xfrm>
              <a:off x="819427" y="6633865"/>
              <a:ext cx="5145653" cy="14763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900" b="1" dirty="0">
                  <a:solidFill>
                    <a:srgbClr val="403C4E"/>
                  </a:solidFill>
                  <a:latin typeface="Merriweather Bold" pitchFamily="34" charset="0"/>
                  <a:ea typeface="Merriweather Bold" pitchFamily="34" charset="-122"/>
                  <a:cs typeface="Merriweather Bold" pitchFamily="34" charset="-120"/>
                </a:rPr>
                <a:t>watsonx.ai</a:t>
              </a:r>
              <a:endParaRPr lang="en-US" sz="900" dirty="0"/>
            </a:p>
          </p:txBody>
        </p:sp>
        <p:sp>
          <p:nvSpPr>
            <p:cNvPr id="10" name="Text 6"/>
            <p:cNvSpPr/>
            <p:nvPr/>
          </p:nvSpPr>
          <p:spPr>
            <a:xfrm>
              <a:off x="819427" y="6809780"/>
              <a:ext cx="5145653" cy="11340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900" dirty="0">
                  <a:solidFill>
                    <a:srgbClr val="403C4E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AI/LLM layer for generating human-readable explanations</a:t>
              </a:r>
              <a:endParaRPr lang="en-US" sz="900" dirty="0"/>
            </a:p>
          </p:txBody>
        </p:sp>
        <p:pic>
          <p:nvPicPr>
            <p:cNvPr id="11" name="Image 2" descr="preencoded.png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119461" y="6526709"/>
              <a:ext cx="5410759" cy="503634"/>
            </a:xfrm>
            <a:prstGeom prst="rect">
              <a:avLst/>
            </a:prstGeom>
          </p:spPr>
        </p:pic>
        <p:sp>
          <p:nvSpPr>
            <p:cNvPr id="12" name="Text 7"/>
            <p:cNvSpPr/>
            <p:nvPr/>
          </p:nvSpPr>
          <p:spPr>
            <a:xfrm>
              <a:off x="6277413" y="6633865"/>
              <a:ext cx="5145653" cy="14763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900" b="1" dirty="0">
                  <a:solidFill>
                    <a:srgbClr val="403C4E"/>
                  </a:solidFill>
                  <a:latin typeface="Merriweather Bold" pitchFamily="34" charset="0"/>
                  <a:ea typeface="Merriweather Bold" pitchFamily="34" charset="-122"/>
                  <a:cs typeface="Merriweather Bold" pitchFamily="34" charset="-120"/>
                </a:rPr>
                <a:t>AI Copilot</a:t>
              </a:r>
              <a:endParaRPr lang="en-US" sz="900" dirty="0"/>
            </a:p>
          </p:txBody>
        </p:sp>
        <p:sp>
          <p:nvSpPr>
            <p:cNvPr id="13" name="Text 8"/>
            <p:cNvSpPr/>
            <p:nvPr/>
          </p:nvSpPr>
          <p:spPr>
            <a:xfrm>
              <a:off x="6277413" y="6809780"/>
              <a:ext cx="5145653" cy="11340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900" dirty="0">
                  <a:solidFill>
                    <a:srgbClr val="403C4E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Converts structured ML results into concise, actionable explanations</a:t>
              </a:r>
              <a:endParaRPr lang="en-US" sz="900" dirty="0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BB361541-B9EF-3359-295B-98CD0D94F4D8}"/>
              </a:ext>
            </a:extLst>
          </p:cNvPr>
          <p:cNvSpPr/>
          <p:nvPr/>
        </p:nvSpPr>
        <p:spPr>
          <a:xfrm>
            <a:off x="9609221" y="6300226"/>
            <a:ext cx="2582779" cy="55777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42330"/>
            <a:ext cx="460562" cy="156865"/>
          </a:xfrm>
          <a:prstGeom prst="roundRect">
            <a:avLst>
              <a:gd name="adj" fmla="val 22141"/>
            </a:avLst>
          </a:prstGeom>
          <a:noFill/>
          <a:ln w="6350">
            <a:solidFill>
              <a:srgbClr val="FFAD9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23485" y="573286"/>
            <a:ext cx="946126" cy="94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650" dirty="0">
                <a:solidFill>
                  <a:srgbClr val="FFAD9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RESULTS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661475" y="721717"/>
            <a:ext cx="10868745" cy="323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Prototype Results &amp; Impact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61475" y="1185962"/>
            <a:ext cx="5308269" cy="161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RUL Model Performance</a:t>
            </a:r>
            <a:endParaRPr lang="en-US" sz="1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410891"/>
            <a:ext cx="5308269" cy="3821013"/>
          </a:xfrm>
          <a:prstGeom prst="rect">
            <a:avLst/>
          </a:prstGeom>
        </p:spPr>
      </p:pic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5295404"/>
          <a:ext cx="5308268" cy="637465"/>
        </p:xfrm>
        <a:graphic>
          <a:graphicData uri="http://schemas.openxmlformats.org/drawingml/2006/table">
            <a:tbl>
              <a:tblPr/>
              <a:tblGrid>
                <a:gridCol w="26541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41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14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403C4E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MAE</a:t>
                      </a:r>
                      <a:endParaRPr lang="en-US" sz="8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03370" marR="103370" marT="6350" marB="6350" anchor="ctr">
                    <a:lnL w="12700" cap="flat" cmpd="sng" algn="ctr">
                      <a:solidFill>
                        <a:srgbClr val="E5BE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BE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BE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03C4E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23.96 cycles</a:t>
                      </a:r>
                      <a:endParaRPr lang="en-US" sz="8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03370" marR="103370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BE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BE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BE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60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403C4E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RMSE</a:t>
                      </a:r>
                      <a:endParaRPr lang="en-US" sz="8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03370" marR="103370" marT="6350" marB="6350" anchor="ctr">
                    <a:lnL w="12700" cap="flat" cmpd="sng" algn="ctr">
                      <a:solidFill>
                        <a:srgbClr val="E5BE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BE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BE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03C4E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32.57 cycles</a:t>
                      </a:r>
                      <a:endParaRPr lang="en-US" sz="8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03370" marR="103370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BE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BE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BE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14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403C4E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R²</a:t>
                      </a:r>
                      <a:endParaRPr lang="en-US" sz="8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03370" marR="103370" marT="6350" marB="6350" anchor="ctr">
                    <a:lnL w="12700" cap="flat" cmpd="sng" algn="ctr">
                      <a:solidFill>
                        <a:srgbClr val="E5BE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BE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BE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03C4E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0.7538</a:t>
                      </a:r>
                      <a:endParaRPr lang="en-US" sz="8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03370" marR="103370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BE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BE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BE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61475" y="6009084"/>
            <a:ext cx="5308269" cy="2557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8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Validated on </a:t>
            </a:r>
            <a:r>
              <a:rPr lang="en-US" sz="800" b="1" dirty="0">
                <a:solidFill>
                  <a:srgbClr val="403C4E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20 unseen engines</a:t>
            </a:r>
            <a:r>
              <a:rPr lang="en-US" sz="8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engine-level split reduces time-series leakage and tests real generalization.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6228301" y="1185962"/>
            <a:ext cx="5308269" cy="161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From Reactive to Predictive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6228301" y="1410891"/>
            <a:ext cx="206667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403C4E"/>
                </a:solidFill>
                <a:latin typeface="Merriweather Light" pitchFamily="34" charset="0"/>
                <a:ea typeface="Merriweather Light" pitchFamily="34" charset="-122"/>
                <a:cs typeface="Merriweather Light" pitchFamily="34" charset="-120"/>
              </a:rPr>
              <a:t>01</a:t>
            </a:r>
            <a:endParaRPr lang="en-US" sz="800" dirty="0"/>
          </a:p>
        </p:txBody>
      </p:sp>
      <p:sp>
        <p:nvSpPr>
          <p:cNvPr id="11" name="Shape 7"/>
          <p:cNvSpPr/>
          <p:nvPr/>
        </p:nvSpPr>
        <p:spPr>
          <a:xfrm>
            <a:off x="6228301" y="1573808"/>
            <a:ext cx="5308269" cy="12700"/>
          </a:xfrm>
          <a:prstGeom prst="rect">
            <a:avLst/>
          </a:prstGeom>
          <a:solidFill>
            <a:srgbClr val="FFAD94"/>
          </a:solidFill>
          <a:ln/>
        </p:spPr>
      </p:sp>
      <p:sp>
        <p:nvSpPr>
          <p:cNvPr id="12" name="Text 8"/>
          <p:cNvSpPr/>
          <p:nvPr/>
        </p:nvSpPr>
        <p:spPr>
          <a:xfrm>
            <a:off x="6228301" y="1650802"/>
            <a:ext cx="5308269" cy="161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Raw Telemetry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6228301" y="1946176"/>
            <a:ext cx="206667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403C4E"/>
                </a:solidFill>
                <a:latin typeface="Merriweather Light" pitchFamily="34" charset="0"/>
                <a:ea typeface="Merriweather Light" pitchFamily="34" charset="-122"/>
                <a:cs typeface="Merriweather Light" pitchFamily="34" charset="-120"/>
              </a:rPr>
              <a:t>02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6228301" y="2109093"/>
            <a:ext cx="5308269" cy="12700"/>
          </a:xfrm>
          <a:prstGeom prst="rect">
            <a:avLst/>
          </a:prstGeom>
          <a:solidFill>
            <a:srgbClr val="FFAD94"/>
          </a:solidFill>
          <a:ln/>
        </p:spPr>
      </p:sp>
      <p:sp>
        <p:nvSpPr>
          <p:cNvPr id="15" name="Text 11"/>
          <p:cNvSpPr/>
          <p:nvPr/>
        </p:nvSpPr>
        <p:spPr>
          <a:xfrm>
            <a:off x="6228301" y="2186087"/>
            <a:ext cx="5308269" cy="161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Predictive Insight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6228301" y="2481461"/>
            <a:ext cx="206667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403C4E"/>
                </a:solidFill>
                <a:latin typeface="Merriweather Light" pitchFamily="34" charset="0"/>
                <a:ea typeface="Merriweather Light" pitchFamily="34" charset="-122"/>
                <a:cs typeface="Merriweather Light" pitchFamily="34" charset="-120"/>
              </a:rPr>
              <a:t>03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6228301" y="2644378"/>
            <a:ext cx="5308269" cy="12700"/>
          </a:xfrm>
          <a:prstGeom prst="rect">
            <a:avLst/>
          </a:prstGeom>
          <a:solidFill>
            <a:srgbClr val="FFAD94"/>
          </a:solidFill>
          <a:ln/>
        </p:spPr>
      </p:sp>
      <p:sp>
        <p:nvSpPr>
          <p:cNvPr id="18" name="Text 14"/>
          <p:cNvSpPr/>
          <p:nvPr/>
        </p:nvSpPr>
        <p:spPr>
          <a:xfrm>
            <a:off x="6228301" y="2721372"/>
            <a:ext cx="5308269" cy="161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Early Awareness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6228301" y="3016746"/>
            <a:ext cx="206667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403C4E"/>
                </a:solidFill>
                <a:latin typeface="Merriweather Light" pitchFamily="34" charset="0"/>
                <a:ea typeface="Merriweather Light" pitchFamily="34" charset="-122"/>
                <a:cs typeface="Merriweather Light" pitchFamily="34" charset="-120"/>
              </a:rPr>
              <a:t>04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6228301" y="3179663"/>
            <a:ext cx="5308269" cy="12700"/>
          </a:xfrm>
          <a:prstGeom prst="rect">
            <a:avLst/>
          </a:prstGeom>
          <a:solidFill>
            <a:srgbClr val="FFAD94"/>
          </a:solidFill>
          <a:ln/>
        </p:spPr>
      </p:sp>
      <p:sp>
        <p:nvSpPr>
          <p:cNvPr id="21" name="Text 17"/>
          <p:cNvSpPr/>
          <p:nvPr/>
        </p:nvSpPr>
        <p:spPr>
          <a:xfrm>
            <a:off x="6228301" y="3256657"/>
            <a:ext cx="5308269" cy="161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Maintenance Prioritization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6228301" y="3552031"/>
            <a:ext cx="206667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403C4E"/>
                </a:solidFill>
                <a:latin typeface="Merriweather Light" pitchFamily="34" charset="0"/>
                <a:ea typeface="Merriweather Light" pitchFamily="34" charset="-122"/>
                <a:cs typeface="Merriweather Light" pitchFamily="34" charset="-120"/>
              </a:rPr>
              <a:t>05</a:t>
            </a:r>
            <a:endParaRPr lang="en-US" sz="800" dirty="0"/>
          </a:p>
        </p:txBody>
      </p:sp>
      <p:sp>
        <p:nvSpPr>
          <p:cNvPr id="23" name="Shape 19"/>
          <p:cNvSpPr/>
          <p:nvPr/>
        </p:nvSpPr>
        <p:spPr>
          <a:xfrm>
            <a:off x="6228301" y="3714948"/>
            <a:ext cx="5308269" cy="12700"/>
          </a:xfrm>
          <a:prstGeom prst="rect">
            <a:avLst/>
          </a:prstGeom>
          <a:solidFill>
            <a:srgbClr val="FFAD94"/>
          </a:solidFill>
          <a:ln/>
        </p:spPr>
      </p:sp>
      <p:sp>
        <p:nvSpPr>
          <p:cNvPr id="24" name="Text 20"/>
          <p:cNvSpPr/>
          <p:nvPr/>
        </p:nvSpPr>
        <p:spPr>
          <a:xfrm>
            <a:off x="6228301" y="3791942"/>
            <a:ext cx="5308269" cy="161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Engineering Review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6228301" y="4094361"/>
            <a:ext cx="5308269" cy="281087"/>
          </a:xfrm>
          <a:prstGeom prst="roundRect">
            <a:avLst>
              <a:gd name="adj" fmla="val 15445"/>
            </a:avLst>
          </a:prstGeom>
          <a:solidFill>
            <a:srgbClr val="FFD8CC"/>
          </a:solidFill>
          <a:ln/>
        </p:spPr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1585" y="4187825"/>
            <a:ext cx="129180" cy="103287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564049" y="4170958"/>
            <a:ext cx="5478822" cy="12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Prototype benchmark results — not production-grade or real-world military performance claims.</a:t>
            </a:r>
            <a:endParaRPr lang="en-US" sz="8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A4B4BCC-7AE7-6BFB-BB9D-D54BFDC2B99B}"/>
              </a:ext>
            </a:extLst>
          </p:cNvPr>
          <p:cNvSpPr/>
          <p:nvPr/>
        </p:nvSpPr>
        <p:spPr>
          <a:xfrm>
            <a:off x="9609221" y="5550569"/>
            <a:ext cx="2582779" cy="130743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74787"/>
            <a:ext cx="985714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FFAD9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4879" y="731441"/>
            <a:ext cx="1368490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FFAD9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OUR TEAM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03753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Meet the Team</a:t>
            </a:r>
            <a:endParaRPr lang="en-US" sz="3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911648"/>
            <a:ext cx="378014" cy="37802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61475" y="2525911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ML Engineer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661475" y="2934593"/>
            <a:ext cx="346542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RUL prediction &amp; model development</a:t>
            </a:r>
            <a:endParaRPr lang="en-US" sz="14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3135" y="1911648"/>
            <a:ext cx="378014" cy="37802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363135" y="2525911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Data / ML Engineer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4363135" y="2934593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Anomaly detection &amp; feature engineering</a:t>
            </a:r>
            <a:endParaRPr lang="en-US" sz="14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64794" y="1911648"/>
            <a:ext cx="378014" cy="37802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064794" y="2525911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Backend Developer</a:t>
            </a:r>
            <a:endParaRPr lang="en-US" sz="1850" dirty="0"/>
          </a:p>
        </p:txBody>
      </p:sp>
      <p:sp>
        <p:nvSpPr>
          <p:cNvPr id="13" name="Text 8"/>
          <p:cNvSpPr/>
          <p:nvPr/>
        </p:nvSpPr>
        <p:spPr>
          <a:xfrm>
            <a:off x="8064794" y="2934593"/>
            <a:ext cx="346542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API &amp; prediction pipeline</a:t>
            </a:r>
            <a:endParaRPr lang="en-US" sz="14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917454"/>
            <a:ext cx="378014" cy="378023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61475" y="4531717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Frontend Developer</a:t>
            </a:r>
            <a:endParaRPr lang="en-US" sz="1850" dirty="0"/>
          </a:p>
        </p:txBody>
      </p:sp>
      <p:sp>
        <p:nvSpPr>
          <p:cNvPr id="16" name="Text 10"/>
          <p:cNvSpPr/>
          <p:nvPr/>
        </p:nvSpPr>
        <p:spPr>
          <a:xfrm>
            <a:off x="661475" y="4940399"/>
            <a:ext cx="346542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Fleet dashboard &amp; visualization</a:t>
            </a:r>
            <a:endParaRPr lang="en-US" sz="145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63135" y="3917454"/>
            <a:ext cx="378014" cy="378023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363135" y="4531717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AI Engineer</a:t>
            </a:r>
            <a:endParaRPr lang="en-US" sz="1850" dirty="0"/>
          </a:p>
        </p:txBody>
      </p:sp>
      <p:sp>
        <p:nvSpPr>
          <p:cNvPr id="19" name="Text 12"/>
          <p:cNvSpPr/>
          <p:nvPr/>
        </p:nvSpPr>
        <p:spPr>
          <a:xfrm>
            <a:off x="4363135" y="4940399"/>
            <a:ext cx="346542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Copilot &amp; explanations</a:t>
            </a:r>
            <a:endParaRPr lang="en-US" sz="1450" dirty="0"/>
          </a:p>
        </p:txBody>
      </p:sp>
      <p:sp>
        <p:nvSpPr>
          <p:cNvPr id="20" name="Text 13"/>
          <p:cNvSpPr/>
          <p:nvPr/>
        </p:nvSpPr>
        <p:spPr>
          <a:xfrm>
            <a:off x="944936" y="5668070"/>
            <a:ext cx="1119486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03C4E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Team Mission:</a:t>
            </a:r>
            <a:r>
              <a:rPr lang="en-US" sz="14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Turning equipment telemetry into explainable maintenance intelligence.</a:t>
            </a:r>
            <a:endParaRPr lang="en-US" sz="1450" dirty="0"/>
          </a:p>
        </p:txBody>
      </p:sp>
      <p:sp>
        <p:nvSpPr>
          <p:cNvPr id="21" name="Shape 14"/>
          <p:cNvSpPr/>
          <p:nvPr/>
        </p:nvSpPr>
        <p:spPr>
          <a:xfrm>
            <a:off x="661475" y="5455444"/>
            <a:ext cx="25399" cy="727670"/>
          </a:xfrm>
          <a:prstGeom prst="roundRect">
            <a:avLst>
              <a:gd name="adj" fmla="val 50001"/>
            </a:avLst>
          </a:prstGeom>
          <a:solidFill>
            <a:srgbClr val="FFAD94"/>
          </a:solidFill>
          <a:ln/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33B5A56-43D1-2F38-C8F1-520630658492}"/>
              </a:ext>
            </a:extLst>
          </p:cNvPr>
          <p:cNvSpPr/>
          <p:nvPr/>
        </p:nvSpPr>
        <p:spPr>
          <a:xfrm>
            <a:off x="9609221" y="5550569"/>
            <a:ext cx="2582779" cy="130743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475</Words>
  <Application>Microsoft Office PowerPoint</Application>
  <PresentationFormat>Widescreen</PresentationFormat>
  <Paragraphs>99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Open Sans Bold</vt:lpstr>
      <vt:lpstr>Open Sans</vt:lpstr>
      <vt:lpstr>Merriweather Light</vt:lpstr>
      <vt:lpstr>Merriweather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Kunj Thummar</cp:lastModifiedBy>
  <cp:revision>2</cp:revision>
  <dcterms:created xsi:type="dcterms:W3CDTF">2026-09-15T14:27:13Z</dcterms:created>
  <dcterms:modified xsi:type="dcterms:W3CDTF">2026-09-15T14:34:38Z</dcterms:modified>
</cp:coreProperties>
</file>